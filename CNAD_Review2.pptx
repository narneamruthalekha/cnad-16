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62" r:id="rId4"/>
    <p:sldId id="707" r:id="rId6"/>
    <p:sldId id="908" r:id="rId7"/>
    <p:sldId id="909" r:id="rId8"/>
    <p:sldId id="257" r:id="rId9"/>
    <p:sldId id="903" r:id="rId10"/>
    <p:sldId id="902" r:id="rId11"/>
    <p:sldId id="258" r:id="rId12"/>
    <p:sldId id="259" r:id="rId13"/>
    <p:sldId id="907" r:id="rId14"/>
    <p:sldId id="260" r:id="rId15"/>
    <p:sldId id="90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1.png"/><Relationship Id="rId7" Type="http://schemas.microsoft.com/office/2007/relationships/diagramDrawing" Target="../diagrams/drawing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3" Type="http://schemas.openxmlformats.org/officeDocument/2006/relationships/diagramData" Target="../diagrams/data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995612" y="2868213"/>
            <a:ext cx="6200774" cy="491490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/09/2026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93271" y="4898509"/>
          <a:ext cx="370205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/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P. Sowmya (2420030457)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N. Amrutha Lekha (2420030477)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/>
                <a:gridCol w="4528760"/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Dr. Srilatha Patha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Associate Professor, 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Computer Science and Engineering, </a:t>
                      </a:r>
                      <a:endParaRPr lang="en-US" sz="1400" b="1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CNAD Project Review-2</a:t>
            </a:r>
            <a:endParaRPr lang="en-IN" b="1" dirty="0"/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/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AI-Powered Adaptive Software Change Impact &amp; Risk Prediction Platform</a:t>
            </a:r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What We'll Cover Today</a:t>
            </a:r>
            <a:endParaRPr kumimoji="0" lang="en-IN" sz="3600" b="1" i="0" u="none" strike="noStrike" kern="1200" cap="none" spc="0" normalizeH="0" baseline="0" noProof="0" dirty="0">
              <a:ln w="0"/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/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Helm &amp; Deployment Strategy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CI/CD &amp; GitOps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Ingress, Gateway &amp; Security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Roadmap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Conclusion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pic>
          <p:nvPicPr>
            <p:cNvPr id="7" name="Graphic 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/>
            <p:cNvSpPr txBox="1"/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Recap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/>
            <p:cNvSpPr txBox="1"/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Progress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Cloud-Native Architecture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</p:grpSp>
      <p:graphicFrame>
        <p:nvGraphicFramePr>
          <p:cNvPr id="26" name="Diagram 25"/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Review-1 Recap: Problem &amp; Approach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Problem: in microservice systems, a small code change can silently ripple across many interconnected services — teams lack pre-deployment visibility into blast radius.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ImpactFlow analyzes a proposed change plus its dependency graph and applies an AI/ML risk-prediction model to score risk and recommend safeguards before deployment.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Platform is Spring Boot microservices (Eureka + Spring Cloud Gateway), Kafka for event-driven change propagation, JWT-secured, database-per-service.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Review-1 established the architecture and MLOps/DevSecOps design; Review-2 focuses on deepening the cloud-native deployment, delivery and networking layers.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Since Review-1: Helm charts authored for all services; blue-green + canary deploy strategies designed; build→test→scan→push→deploy pipeline stages built; Ingress/TLS with cert-manager + JWT gateway added.</a:t>
            </a:r>
            <a:endParaRPr lang="en-US" sz="1900" b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Cloud-Native Platform Architecture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Edge/Gateway layer: NGINX Ingress with TLS (cert-manager), Spring Cloud Gateway, JWT validation and rate limiting.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Microservices (K8s) layer: Spring Boot services, Eureka service discovery, Kafka event bus, database-per-service.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ML/MLOps layer: feature and training pipeline, model registry/versioning, risk-score inference API.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Platform &amp; Ops layer: Helm chart releases, GitHub Actions CI/CD, Prometheus + Grafana for observability.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How a change flows: it enters through the Edge/Gateway layer, is routed to the affected microservices, triggers dependency and risk analysis in the ML/MLOps layer, and every step is released, scanned and monitored by the Platform &amp; Ops layer.</a:t>
            </a:r>
            <a:endParaRPr lang="en-US" sz="1900" b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00020" y="277495"/>
            <a:ext cx="6069330" cy="4413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3600" b="1" dirty="0"/>
              <a:t>Helm: Packaging &amp; Environment Management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739140" y="1724015"/>
            <a:ext cx="108204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Each microservice ships as its own Helm chart — Chart.yaml (metadata), values.yaml (defaults), templates/ (Deployment, Service, Ingress, ConfigMap, Secret).</a:t>
            </a:r>
            <a:endParaRPr lang="en-US" sz="20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Variable injection via values.yaml lets one chart drive many contexts — replica count, image tag, resource limits — without touching templates.</a:t>
            </a:r>
            <a:endParaRPr lang="en-US" sz="20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Conditional templates ({{- if .Values.x }}) toggle optional resources such as HPA or extra sidecars per environment.</a:t>
            </a:r>
            <a:endParaRPr lang="en-US" sz="20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Chart dependencies declared in Chart.yaml pull in shared building blocks like Kafka or Redis as subcharts; helm lint and helm install --dry-run --debug catch errors before they reach a cluster.</a:t>
            </a:r>
            <a:endParaRPr lang="en-US" sz="20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Dev→Stage→Prod overlays: values-dev.yaml (1 replica, debug logging, mock ML model), values-stage.yaml (2 replicas, staging Kafka, canary flag on), values-prod.yaml (HA replicas, Vault secrets, TLS enforced); helm upgrade/rollback keeps a versioned release history.</a:t>
            </a:r>
            <a:endParaRPr lang="en-US" sz="2000" b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Deployment Strategies for Zero-Downtime Releases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2142480"/>
            <a:ext cx="10820400" cy="50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Rolling Update — default K8s strategy for stateless services; maxSurge/maxUnavailable tuned per PDB; readiness probes gate traffic to new pods.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Blue-Green — full parallel prod environment (green); instant cutover via Service/Ingress switch; fast rollback — just flip traffic back.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Canary — small % of traffic routed to new version via NGINX Ingress weighted routing; auto-promote or auto-rollback on health signal.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Automated safety net: kubectl rollout undo and helm upgrade --atomic auto-revert a bad release; readiness/liveness probes + PodDisruptionBudgets (maxUnavailable) keep capacity healthy during every rollout.</a:t>
            </a:r>
            <a:endParaRPr lang="en-US" sz="1900" b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CI/CD Pipeline: Build → Deploy → Verify</a:t>
            </a:r>
            <a:endParaRPr lang="en-US" sz="3600" b="1" dirty="0"/>
          </a:p>
        </p:txBody>
      </p:sp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Six pipeline stages: Build (Maven, unit tests) → Test (integration + contract tests) → Scan (SonarQube, Trivy, OWASP ZAP) → Push (image to container registry) → Deploy (Helm upgrade to target env) → Promote (GitOps sync dev→stage→prod).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Pipeline design is tailored for microservices: each service triggers its own pipeline on change, keeping builds fast and independent.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Secrets (DB creds, JWT signing keys) are injected at deploy time via Vault integration — never stored in pipeline YAML.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Environment promotion is gated: a build must pass staging health checks before promotion to production is unlocked.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GitOps preview: evaluating Argo CD / FluxCD so the desired cluster state is declared in Git and continuously reconciled.</a:t>
            </a:r>
            <a:endParaRPr lang="en-US" sz="1900" b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Kubernetes Reliability &amp; Self-Healing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2657555"/>
            <a:ext cx="10820400" cy="43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Liveness Probes detect and restart stuck or hung containers automatically.</a:t>
            </a:r>
            <a:endParaRPr lang="en-US" sz="20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Readiness Probes hold traffic from a pod until it can truly serve requests; Startup Probes give slow-starting ML/inference containers extra grace time.</a:t>
            </a:r>
            <a:endParaRPr lang="en-US" sz="20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PodDisruptionBudgets guarantee minAvailable pods during voluntary disruptions.</a:t>
            </a:r>
            <a:endParaRPr lang="en-US" sz="20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Surge/Unavailable tuning controls rollout speed vs. capacity headroom.</a:t>
            </a:r>
            <a:endParaRPr lang="en-US" sz="20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Automated Rollback: kubectl rollout undo and helm --atomic revert failed releases.</a:t>
            </a:r>
            <a:endParaRPr lang="en-US" sz="2000" b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Ingress, API Gateway &amp; Edge Security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NGINX Ingress Controller routes external traffic to services; evaluating Traefik for advanced traffic-splitting scenarios.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TLS termination at the edge with automatic certificate issuance/renewal via cert-manager (Let's Encrypt).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Spring Cloud Gateway enforces JWT validation, per-client rate-limiting and request quotas before traffic reaches services.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mTLS considered between internal services for stronger zero-trust communication as the mesh matures.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External DNS management automates hostname → Ingress IP mapping across environments.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High-availability gateway setup (multiple replicas + PodDisruptionBudget) avoids a single point of failure at the edge. Request path: Client (HTTPS) → NGINX Ingress + TLS → Spring Cloud Gateway (JWT + rate limit) → target microservice.</a:t>
            </a:r>
            <a:endParaRPr lang="en-US" sz="1900" b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Monitoring and L4/L7 Trade-offs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Prometheus scrapes per-service metrics (latency, error rate, saturation) across the cluster; Grafana dashboards visualize service health, risk-prediction throughput and pipeline success in real time.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Alerting rules flag SLO breaches early, feeding back into the risk-prediction context for future changes.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Illustrative average latency by service: Gateway 42ms, Risk-ML 118ms, Change-Svc 65ms, Notif-Svc 30ms.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Illustrative cluster pod health: 88% healthy, 9% degraded, 3% restarting.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L4 (NGINX TCP passthrough) gives lower latency and cheaper compute for raw throughput paths; L7 (HTTP-aware Ingress/Gateway) enables smarter routing, JWT/rate-limiting and canary weighting at a higher CPU cost per request.</a:t>
            </a:r>
            <a:endParaRPr lang="en-US" sz="19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ImpactFlow uses L7 at the edge for control and L4-style simplicity internally where possible, balancing cost and performance.</a:t>
            </a:r>
            <a:endParaRPr lang="en-US" sz="1900" b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Implementation Status</a:t>
            </a:r>
            <a:endParaRPr lang="en-US" sz="4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685800" y="1750000"/>
            <a:ext cx="10820400" cy="9500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Core discovery/gateway/auth, change-analysis and a first offline ML risk model are complete; Helm, blue-green/canary and CI/CD hardening are in progress.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Ingress/TLS and the Prometheus/Grafana observability stack are planned for the remaining weeks.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0" name="Timeline Table"/>
          <p:cNvGraphicFramePr>
            <a:graphicFrameLocks noGrp="1"/>
          </p:cNvGraphicFramePr>
          <p:nvPr/>
        </p:nvGraphicFramePr>
        <p:xfrm>
          <a:off x="685800" y="2820000"/>
          <a:ext cx="1082040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0000"/>
                <a:gridCol w="3320400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Work Item</a:t>
                      </a:r>
                      <a:endParaRPr lang="en-US" sz="12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9144" marB="9144" anchor="ctr">
                    <a:solidFill>
                      <a:srgbClr val="1F4E79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/>
                        <a:t>Service discovery, gateway, JWT auth</a:t>
                      </a:r>
                      <a:endParaRPr lang="en-US" sz="1100" b="0" dirty="0"/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Done</a:t>
                      </a:r>
                      <a:endParaRPr lang="en-US" sz="1100" b="1" dirty="0">
                        <a:solidFill>
                          <a:srgbClr val="2E7D32"/>
                        </a:solidFill>
                      </a:endParaRPr>
                    </a:p>
                  </a:txBody>
                  <a:tcPr marL="45720" marR="45720" marT="9144" marB="9144" anchor="ctr">
                    <a:noFill/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/>
                        <a:t>Change-analysis &amp; dependency-graph service</a:t>
                      </a:r>
                      <a:endParaRPr lang="en-US" sz="1100" b="0" dirty="0"/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Done</a:t>
                      </a:r>
                      <a:endParaRPr lang="en-US" sz="1100" b="1" dirty="0">
                        <a:solidFill>
                          <a:srgbClr val="2E7D32"/>
                        </a:solidFill>
                      </a:endParaRPr>
                    </a:p>
                  </a:txBody>
                  <a:tcPr marL="45720" marR="45720" marT="9144" marB="9144" anchor="ctr">
                    <a:noFill/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/>
                        <a:t>ML risk-prediction model (v1, offline)</a:t>
                      </a:r>
                      <a:endParaRPr lang="en-US" sz="1100" b="0" dirty="0"/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Done</a:t>
                      </a:r>
                      <a:endParaRPr lang="en-US" sz="1100" b="1" dirty="0">
                        <a:solidFill>
                          <a:srgbClr val="2E7D32"/>
                        </a:solidFill>
                      </a:endParaRPr>
                    </a:p>
                  </a:txBody>
                  <a:tcPr marL="45720" marR="45720" marT="9144" marB="9144" anchor="ctr">
                    <a:noFill/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/>
                        <a:t>Helm charts for all microservices</a:t>
                      </a:r>
                      <a:endParaRPr lang="en-US" sz="1100" b="0" dirty="0"/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B8860B"/>
                          </a:solidFill>
                        </a:rPr>
                        <a:t>In Progress</a:t>
                      </a:r>
                      <a:endParaRPr lang="en-US" sz="1100" b="1" dirty="0">
                        <a:solidFill>
                          <a:srgbClr val="B8860B"/>
                        </a:solidFill>
                      </a:endParaRPr>
                    </a:p>
                  </a:txBody>
                  <a:tcPr marL="45720" marR="45720" marT="9144" marB="9144" anchor="ctr">
                    <a:noFill/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/>
                        <a:t>Blue-green / canary rollout automation</a:t>
                      </a:r>
                      <a:endParaRPr lang="en-US" sz="1100" b="0" dirty="0"/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B8860B"/>
                          </a:solidFill>
                        </a:rPr>
                        <a:t>In Progress</a:t>
                      </a:r>
                      <a:endParaRPr lang="en-US" sz="1100" b="1" dirty="0">
                        <a:solidFill>
                          <a:srgbClr val="B8860B"/>
                        </a:solidFill>
                      </a:endParaRPr>
                    </a:p>
                  </a:txBody>
                  <a:tcPr marL="45720" marR="45720" marT="9144" marB="9144" anchor="ctr">
                    <a:noFill/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/>
                        <a:t>CI/CD pipeline with SonarQube/Trivy/ZAP</a:t>
                      </a:r>
                      <a:endParaRPr lang="en-US" sz="1100" b="0" dirty="0"/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B8860B"/>
                          </a:solidFill>
                        </a:rPr>
                        <a:t>In Progress</a:t>
                      </a:r>
                      <a:endParaRPr lang="en-US" sz="1100" b="1" dirty="0">
                        <a:solidFill>
                          <a:srgbClr val="B8860B"/>
                        </a:solidFill>
                      </a:endParaRPr>
                    </a:p>
                  </a:txBody>
                  <a:tcPr marL="45720" marR="45720" marT="9144" marB="9144" anchor="ctr">
                    <a:noFill/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/>
                        <a:t>Ingress + cert-manager TLS</a:t>
                      </a:r>
                      <a:endParaRPr lang="en-US" sz="1100" b="0" dirty="0"/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757575"/>
                          </a:solidFill>
                        </a:rPr>
                        <a:t>Planned</a:t>
                      </a:r>
                      <a:endParaRPr lang="en-US" sz="1100" b="1" dirty="0">
                        <a:solidFill>
                          <a:srgbClr val="757575"/>
                        </a:solidFill>
                      </a:endParaRPr>
                    </a:p>
                  </a:txBody>
                  <a:tcPr marL="45720" marR="45720" marT="9144" marB="9144" anchor="ctr">
                    <a:noFill/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/>
                        <a:t>Prometheus/Grafana dashboards</a:t>
                      </a:r>
                      <a:endParaRPr lang="en-US" sz="1100" b="0" dirty="0"/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757575"/>
                          </a:solidFill>
                        </a:rPr>
                        <a:t>Planned</a:t>
                      </a:r>
                      <a:endParaRPr lang="en-US" sz="1100" b="1" dirty="0">
                        <a:solidFill>
                          <a:srgbClr val="757575"/>
                        </a:solidFill>
                      </a:endParaRPr>
                    </a:p>
                  </a:txBody>
                  <a:tcPr marL="45720" marR="45720" marT="9144" marB="9144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E2841"/>
                </a:solidFill>
                <a:latin typeface="Calibri" panose="020F0502020204030204"/>
              </a:rPr>
              <a:t>Remaining Timeline to Final Review</a:t>
            </a:r>
            <a:endParaRPr sz="3200" b="1">
              <a:solidFill>
                <a:srgbClr val="0E2841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Calibri" panose="020F0502020204030204"/>
              </a:rPr>
              <a:t>ImpactFlow – Five-Phase Delivery Plan</a:t>
            </a:r>
            <a:endParaRPr sz="1400" b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1795780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0186" y="1435608"/>
            <a:ext cx="566928" cy="5669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has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058" y="1554480"/>
            <a:ext cx="329184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2075688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156082"/>
                </a:solidFill>
                <a:latin typeface="Calibri" panose="020F0502020204030204"/>
              </a:rPr>
              <a:t>Phase 1</a:t>
            </a:r>
            <a:endParaRPr sz="1200" b="1">
              <a:solidFill>
                <a:srgbClr val="15608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6129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Calibri" panose="020F0502020204030204"/>
              </a:rPr>
              <a:t>Helm Charts &amp;</a:t>
            </a:r>
            <a:endParaRPr sz="1300" b="1">
              <a:solidFill>
                <a:srgbClr val="0E2841"/>
              </a:solidFill>
              <a:latin typeface="Calibri" panose="020F0502020204030204"/>
            </a:endParaRPr>
          </a:p>
          <a:p>
            <a:pPr algn="ctr"/>
            <a:r>
              <a:rPr sz="1300" b="1">
                <a:solidFill>
                  <a:srgbClr val="0E2841"/>
                </a:solidFill>
                <a:latin typeface="Calibri" panose="020F0502020204030204"/>
              </a:rPr>
              <a:t>Environment Overlays</a:t>
            </a:r>
            <a:endParaRPr sz="1300" b="1">
              <a:solidFill>
                <a:srgbClr val="0E2841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2916936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50" b="1">
                <a:solidFill>
                  <a:srgbClr val="156082"/>
                </a:solidFill>
                <a:latin typeface="Calibri" panose="020F0502020204030204"/>
              </a:rPr>
              <a:t>Weeks 1–2</a:t>
            </a:r>
            <a:endParaRPr sz="1050" b="1">
              <a:solidFill>
                <a:srgbClr val="156082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3776" y="3209544"/>
            <a:ext cx="1539748" cy="16367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 panose="020F0502020204030204"/>
              </a:rPr>
              <a:t>• Finish Helm charts for all services</a:t>
            </a:r>
            <a:endParaRPr sz="100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 panose="020F0502020204030204"/>
              </a:rPr>
              <a:t>• Build dev/stage/prod overlays</a:t>
            </a:r>
            <a:endParaRPr sz="100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 panose="020F0502020204030204"/>
              </a:rPr>
              <a:t>• Validate via helm lint &amp; dry-run</a:t>
            </a:r>
            <a:endParaRPr sz="1000">
              <a:solidFill>
                <a:srgbClr val="333333"/>
              </a:solidFill>
              <a:latin typeface="Calibri" panose="020F0502020204030204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2143252" y="3003804"/>
            <a:ext cx="173736" cy="164592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98700" y="1234440"/>
            <a:ext cx="1795780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13126" y="1435608"/>
            <a:ext cx="566928" cy="566928"/>
          </a:xfrm>
          <a:prstGeom prst="ellipse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has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998" y="1554480"/>
            <a:ext cx="329184" cy="329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98700" y="2075688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196B24"/>
                </a:solidFill>
                <a:latin typeface="Calibri" panose="020F0502020204030204"/>
              </a:rPr>
              <a:t>Phase 2</a:t>
            </a:r>
            <a:endParaRPr sz="1200" b="1">
              <a:solidFill>
                <a:srgbClr val="196B24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90140" y="2331720"/>
            <a:ext cx="16129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Calibri" panose="020F0502020204030204"/>
              </a:rPr>
              <a:t>Blue-Green &amp;</a:t>
            </a:r>
            <a:endParaRPr sz="1300" b="1">
              <a:solidFill>
                <a:srgbClr val="0E2841"/>
              </a:solidFill>
              <a:latin typeface="Calibri" panose="020F0502020204030204"/>
            </a:endParaRPr>
          </a:p>
          <a:p>
            <a:pPr algn="ctr"/>
            <a:r>
              <a:rPr sz="1300" b="1">
                <a:solidFill>
                  <a:srgbClr val="0E2841"/>
                </a:solidFill>
                <a:latin typeface="Calibri" panose="020F0502020204030204"/>
              </a:rPr>
              <a:t>Canary Rollout</a:t>
            </a:r>
            <a:endParaRPr sz="1300" b="1">
              <a:solidFill>
                <a:srgbClr val="0E2841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98700" y="2916936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50" b="1">
                <a:solidFill>
                  <a:srgbClr val="196B24"/>
                </a:solidFill>
                <a:latin typeface="Calibri" panose="020F0502020204030204"/>
              </a:rPr>
              <a:t>Weeks 3–4</a:t>
            </a:r>
            <a:endParaRPr sz="1050" b="1">
              <a:solidFill>
                <a:srgbClr val="196B24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6716" y="3209544"/>
            <a:ext cx="1539748" cy="16367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 panose="020F0502020204030204"/>
              </a:rPr>
              <a:t>• Wire blue-green cutover via Service/Ingress</a:t>
            </a:r>
            <a:endParaRPr sz="100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 panose="020F0502020204030204"/>
              </a:rPr>
              <a:t>• Configure canary weighted routing</a:t>
            </a:r>
            <a:endParaRPr sz="100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 panose="020F0502020204030204"/>
              </a:rPr>
              <a:t>• Add automated rollback on failed health checks</a:t>
            </a:r>
            <a:endParaRPr sz="1000">
              <a:solidFill>
                <a:srgbClr val="333333"/>
              </a:solidFill>
              <a:latin typeface="Calibri" panose="020F0502020204030204"/>
            </a:endParaRPr>
          </a:p>
        </p:txBody>
      </p:sp>
      <p:sp>
        <p:nvSpPr>
          <p:cNvPr id="19" name="Chevron 18"/>
          <p:cNvSpPr/>
          <p:nvPr/>
        </p:nvSpPr>
        <p:spPr>
          <a:xfrm>
            <a:off x="4076192" y="3003804"/>
            <a:ext cx="173736" cy="164592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31640" y="1234440"/>
            <a:ext cx="1795780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46066" y="1435608"/>
            <a:ext cx="566928" cy="5669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has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938" y="1554480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31640" y="2075688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E97132"/>
                </a:solidFill>
                <a:latin typeface="Calibri" panose="020F0502020204030204"/>
              </a:rPr>
              <a:t>Phase 3</a:t>
            </a:r>
            <a:endParaRPr sz="1200" b="1">
              <a:solidFill>
                <a:srgbClr val="E97132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23080" y="2331720"/>
            <a:ext cx="16129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Calibri" panose="020F0502020204030204"/>
              </a:rPr>
              <a:t>CI/CD Hardening &amp;</a:t>
            </a:r>
            <a:endParaRPr sz="1300" b="1">
              <a:solidFill>
                <a:srgbClr val="0E2841"/>
              </a:solidFill>
              <a:latin typeface="Calibri" panose="020F0502020204030204"/>
            </a:endParaRPr>
          </a:p>
          <a:p>
            <a:pPr algn="ctr"/>
            <a:r>
              <a:rPr sz="1300" b="1">
                <a:solidFill>
                  <a:srgbClr val="0E2841"/>
                </a:solidFill>
                <a:latin typeface="Calibri" panose="020F0502020204030204"/>
              </a:rPr>
              <a:t>Secrets (Vault)</a:t>
            </a:r>
            <a:endParaRPr sz="1300" b="1">
              <a:solidFill>
                <a:srgbClr val="0E2841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31640" y="2916936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50" b="1">
                <a:solidFill>
                  <a:srgbClr val="E97132"/>
                </a:solidFill>
                <a:latin typeface="Calibri" panose="020F0502020204030204"/>
              </a:rPr>
              <a:t>Weeks 5–6</a:t>
            </a:r>
            <a:endParaRPr sz="1050" b="1">
              <a:solidFill>
                <a:srgbClr val="E97132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59656" y="3209544"/>
            <a:ext cx="1539748" cy="16367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 panose="020F0502020204030204"/>
              </a:rPr>
              <a:t>• Harden CI/CD with SonarQube/Trivy/ZAP gates</a:t>
            </a:r>
            <a:endParaRPr sz="100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 panose="020F0502020204030204"/>
              </a:rPr>
              <a:t>• Inject secrets via Vault integration</a:t>
            </a:r>
            <a:endParaRPr sz="100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 panose="020F0502020204030204"/>
              </a:rPr>
              <a:t>• Gate promotion on staging health checks</a:t>
            </a:r>
            <a:endParaRPr sz="1000">
              <a:solidFill>
                <a:srgbClr val="333333"/>
              </a:solidFill>
              <a:latin typeface="Calibri" panose="020F0502020204030204"/>
            </a:endParaRPr>
          </a:p>
        </p:txBody>
      </p:sp>
      <p:sp>
        <p:nvSpPr>
          <p:cNvPr id="27" name="Chevron 26"/>
          <p:cNvSpPr/>
          <p:nvPr/>
        </p:nvSpPr>
        <p:spPr>
          <a:xfrm>
            <a:off x="6009132" y="3003804"/>
            <a:ext cx="173736" cy="164592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64580" y="1234440"/>
            <a:ext cx="1795780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79006" y="1435608"/>
            <a:ext cx="566928" cy="5669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has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7878" y="1554480"/>
            <a:ext cx="329184" cy="32918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64580" y="2075688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A02B93"/>
                </a:solidFill>
                <a:latin typeface="Calibri" panose="020F0502020204030204"/>
              </a:rPr>
              <a:t>Phase 4</a:t>
            </a:r>
            <a:endParaRPr sz="1200" b="1">
              <a:solidFill>
                <a:srgbClr val="A02B93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56020" y="2331720"/>
            <a:ext cx="16129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Calibri" panose="020F0502020204030204"/>
              </a:rPr>
              <a:t>Ingress, TLS &amp;</a:t>
            </a:r>
            <a:endParaRPr sz="1300" b="1">
              <a:solidFill>
                <a:srgbClr val="0E2841"/>
              </a:solidFill>
              <a:latin typeface="Calibri" panose="020F0502020204030204"/>
            </a:endParaRPr>
          </a:p>
          <a:p>
            <a:pPr algn="ctr"/>
            <a:r>
              <a:rPr sz="1300" b="1">
                <a:solidFill>
                  <a:srgbClr val="0E2841"/>
                </a:solidFill>
                <a:latin typeface="Calibri" panose="020F0502020204030204"/>
              </a:rPr>
              <a:t>Gateway Policies</a:t>
            </a:r>
            <a:endParaRPr sz="1300" b="1">
              <a:solidFill>
                <a:srgbClr val="0E2841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64580" y="2916936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50" b="1">
                <a:solidFill>
                  <a:srgbClr val="A02B93"/>
                </a:solidFill>
                <a:latin typeface="Calibri" panose="020F0502020204030204"/>
              </a:rPr>
              <a:t>Weeks 7–8</a:t>
            </a:r>
            <a:endParaRPr sz="1050" b="1">
              <a:solidFill>
                <a:srgbClr val="A02B93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92596" y="3209544"/>
            <a:ext cx="1539748" cy="16367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 panose="020F0502020204030204"/>
              </a:rPr>
              <a:t>• Deploy Ingress + cert-manager TLS</a:t>
            </a:r>
            <a:endParaRPr sz="100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 panose="020F0502020204030204"/>
              </a:rPr>
              <a:t>• Enforce JWT &amp; rate-limiting at gateway</a:t>
            </a:r>
            <a:endParaRPr sz="100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 panose="020F0502020204030204"/>
              </a:rPr>
              <a:t>• Evaluate mTLS for internal services</a:t>
            </a:r>
            <a:endParaRPr sz="1000">
              <a:solidFill>
                <a:srgbClr val="333333"/>
              </a:solidFill>
              <a:latin typeface="Calibri" panose="020F0502020204030204"/>
            </a:endParaRPr>
          </a:p>
        </p:txBody>
      </p:sp>
      <p:sp>
        <p:nvSpPr>
          <p:cNvPr id="35" name="Chevron 34"/>
          <p:cNvSpPr/>
          <p:nvPr/>
        </p:nvSpPr>
        <p:spPr>
          <a:xfrm>
            <a:off x="7942072" y="3003804"/>
            <a:ext cx="173736" cy="164592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97520" y="1234440"/>
            <a:ext cx="1795780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711946" y="143560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has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0818" y="1554480"/>
            <a:ext cx="329184" cy="32918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097520" y="2075688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Calibri" panose="020F0502020204030204"/>
              </a:rPr>
              <a:t>Phase 5</a:t>
            </a:r>
            <a:endParaRPr sz="1200" b="1">
              <a:solidFill>
                <a:srgbClr val="C00000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188960" y="2331720"/>
            <a:ext cx="16129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Calibri" panose="020F0502020204030204"/>
              </a:rPr>
              <a:t>Observability &amp;</a:t>
            </a:r>
            <a:endParaRPr sz="1300" b="1">
              <a:solidFill>
                <a:srgbClr val="0E2841"/>
              </a:solidFill>
              <a:latin typeface="Calibri" panose="020F0502020204030204"/>
            </a:endParaRPr>
          </a:p>
          <a:p>
            <a:pPr algn="ctr"/>
            <a:r>
              <a:rPr sz="1300" b="1">
                <a:solidFill>
                  <a:srgbClr val="0E2841"/>
                </a:solidFill>
                <a:latin typeface="Calibri" panose="020F0502020204030204"/>
              </a:rPr>
              <a:t>Final Evaluation</a:t>
            </a:r>
            <a:endParaRPr sz="1300" b="1">
              <a:solidFill>
                <a:srgbClr val="0E2841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097520" y="2916936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50" b="1">
                <a:solidFill>
                  <a:srgbClr val="C00000"/>
                </a:solidFill>
                <a:latin typeface="Calibri" panose="020F0502020204030204"/>
              </a:rPr>
              <a:t>Weeks 9–10</a:t>
            </a:r>
            <a:endParaRPr sz="1050" b="1">
              <a:solidFill>
                <a:srgbClr val="C00000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225536" y="3209544"/>
            <a:ext cx="1539748" cy="16367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 panose="020F0502020204030204"/>
              </a:rPr>
              <a:t>• Roll out Prometheus/Grafana dashboards</a:t>
            </a:r>
            <a:endParaRPr sz="100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 panose="020F0502020204030204"/>
              </a:rPr>
              <a:t>• Run end-to-end platform evaluation</a:t>
            </a:r>
            <a:endParaRPr sz="100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 panose="020F0502020204030204"/>
              </a:rPr>
              <a:t>• Finalize documentation for Review-3</a:t>
            </a:r>
            <a:endParaRPr sz="1000">
              <a:solidFill>
                <a:srgbClr val="333333"/>
              </a:solidFill>
              <a:latin typeface="Calibri" panose="020F0502020204030204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65760" y="5138928"/>
            <a:ext cx="11460480" cy="146304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127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5138928"/>
            <a:ext cx="20116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E2841"/>
                </a:solidFill>
                <a:latin typeface="Calibri" panose="020F0502020204030204"/>
              </a:rPr>
              <a:t>Expected</a:t>
            </a:r>
            <a:endParaRPr sz="1800" b="1">
              <a:solidFill>
                <a:srgbClr val="0E2841"/>
              </a:solidFill>
              <a:latin typeface="Calibri" panose="020F0502020204030204"/>
            </a:endParaRPr>
          </a:p>
          <a:p>
            <a:pPr algn="l"/>
            <a:r>
              <a:rPr sz="1800" b="1">
                <a:solidFill>
                  <a:srgbClr val="0E2841"/>
                </a:solidFill>
                <a:latin typeface="Calibri" panose="020F0502020204030204"/>
              </a:rPr>
              <a:t>Outcome</a:t>
            </a:r>
            <a:endParaRPr sz="1800" b="1">
              <a:solidFill>
                <a:srgbClr val="0E2841"/>
              </a:solidFill>
              <a:latin typeface="Calibri" panose="020F05020202040302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743200" y="5266944"/>
            <a:ext cx="44958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150" b="0">
                <a:solidFill>
                  <a:srgbClr val="196B24"/>
                </a:solidFill>
                <a:latin typeface="Calibri" panose="020F0502020204030204"/>
              </a:rPr>
              <a:t>✓  Helm-managed, environment-aware deployments</a:t>
            </a:r>
            <a:endParaRPr sz="1150" b="0">
              <a:solidFill>
                <a:srgbClr val="196B24"/>
              </a:solidFill>
              <a:latin typeface="Calibri" panose="020F050202020403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743200" y="5650992"/>
            <a:ext cx="44958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150" b="0">
                <a:solidFill>
                  <a:srgbClr val="196B24"/>
                </a:solidFill>
                <a:latin typeface="Calibri" panose="020F0502020204030204"/>
              </a:rPr>
              <a:t>✓  Blue-green &amp; canary releases with auto-rollback</a:t>
            </a:r>
            <a:endParaRPr sz="1150" b="0">
              <a:solidFill>
                <a:srgbClr val="196B24"/>
              </a:solidFill>
              <a:latin typeface="Calibri" panose="020F050202020403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743200" y="6035040"/>
            <a:ext cx="44958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150" b="0">
                <a:solidFill>
                  <a:srgbClr val="196B24"/>
                </a:solidFill>
                <a:latin typeface="Calibri" panose="020F0502020204030204"/>
              </a:rPr>
              <a:t>✓  Hardened, secret-safe CI/CD pipeline</a:t>
            </a:r>
            <a:endParaRPr sz="1150" b="0">
              <a:solidFill>
                <a:srgbClr val="196B24"/>
              </a:solidFill>
              <a:latin typeface="Calibri" panose="020F050202020403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330440" y="5266944"/>
            <a:ext cx="44958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150" b="0">
                <a:solidFill>
                  <a:srgbClr val="196B24"/>
                </a:solidFill>
                <a:latin typeface="Calibri" panose="020F0502020204030204"/>
              </a:rPr>
              <a:t>✓  TLS-secured ingress &amp; JWT-protected gateway</a:t>
            </a:r>
            <a:endParaRPr sz="1150" b="0">
              <a:solidFill>
                <a:srgbClr val="196B24"/>
              </a:solidFill>
              <a:latin typeface="Calibri" panose="020F050202020403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30440" y="5650992"/>
            <a:ext cx="44958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150" b="0">
                <a:solidFill>
                  <a:srgbClr val="196B24"/>
                </a:solidFill>
                <a:latin typeface="Calibri" panose="020F0502020204030204"/>
              </a:rPr>
              <a:t>✓  Full-stack observability with Prometheus/Grafana</a:t>
            </a:r>
            <a:endParaRPr sz="1150" b="0">
              <a:solidFill>
                <a:srgbClr val="196B24"/>
              </a:solidFill>
              <a:latin typeface="Calibri" panose="020F050202020403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330440" y="6035040"/>
            <a:ext cx="44958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150" b="0">
                <a:solidFill>
                  <a:srgbClr val="196B24"/>
                </a:solidFill>
                <a:latin typeface="Calibri" panose="020F0502020204030204"/>
              </a:rPr>
              <a:t>✓  End-to-end proactive risk prediction</a:t>
            </a:r>
            <a:endParaRPr sz="1150" b="0">
              <a:solidFill>
                <a:srgbClr val="196B24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8335</Words>
  <Application>WPS Presentation</Application>
  <PresentationFormat>Widescreen</PresentationFormat>
  <Paragraphs>244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SimSun</vt:lpstr>
      <vt:lpstr>Wingdings</vt:lpstr>
      <vt:lpstr>Times New Roman</vt:lpstr>
      <vt:lpstr>Cambria</vt:lpstr>
      <vt:lpstr>Arial</vt:lpstr>
      <vt:lpstr>Calibri</vt:lpstr>
      <vt:lpstr>Poppins</vt:lpstr>
      <vt:lpstr>Segoe Print</vt:lpstr>
      <vt:lpstr>Aptos</vt:lpstr>
      <vt:lpstr>Segoe UI</vt:lpstr>
      <vt:lpstr>Microsoft YaHei</vt:lpstr>
      <vt:lpstr>Arial Unicode MS</vt:lpstr>
      <vt:lpstr>Aptos Display</vt:lpstr>
      <vt:lpstr>Segoe UI Variable Display</vt:lpstr>
      <vt:lpstr>Calibri Light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WPS_1733375205</cp:lastModifiedBy>
  <cp:revision>37</cp:revision>
  <dcterms:created xsi:type="dcterms:W3CDTF">2026-08-08T06:33:00Z</dcterms:created>
  <dcterms:modified xsi:type="dcterms:W3CDTF">2026-09-23T03:17:07Z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59E910E0E14542F0B138BD96482C7145_13</vt:lpwstr>
  </property>
</Properties>
</file>